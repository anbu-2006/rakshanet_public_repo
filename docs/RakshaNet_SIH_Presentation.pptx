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5303520" cy="3840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000" b="1">
                <a:solidFill>
                  <a:srgbClr val="93C5FD"/>
                </a:solidFill>
                <a:latin typeface="Calibri"/>
              </a:defRPr>
            </a:pPr>
            <a:r>
              <a:t>SMART INDIA HACKATHON 2024  |  PROBLEM STATEMENT ID: 26184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RakshaNet (National Cyber-Shield)</a:t>
            </a:r>
          </a:p>
          <a:p>
            <a:pPr>
              <a:defRPr sz="2000" b="1">
                <a:solidFill>
                  <a:srgbClr val="60A5FA"/>
                </a:solidFill>
                <a:latin typeface="Calibri"/>
              </a:defRPr>
            </a:pPr>
            <a:r>
              <a:t>Predictive Cash-Out Interception Framework for Cybercrime Complaints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Forecasting Likely Cash Withdrawal Locations in Advance &amp; Executing Automated Statutory Freezes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328416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96512"/>
            <a:ext cx="2962656" cy="12252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93C5FD"/>
                </a:solidFill>
                <a:latin typeface="Calibri"/>
              </a:defRPr>
            </a:pPr>
            <a:r>
              <a:t>ORGANIZATION &amp; DOMAIN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Ministry of Home Affairs (MHA)</a:t>
            </a:r>
            <a:br/>
            <a:r>
              <a:t>Indian Cyber Crime Coordination Centre (I4C)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931920"/>
            <a:ext cx="3328416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4096512"/>
            <a:ext cx="2962656" cy="12252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93C5FD"/>
                </a:solidFill>
                <a:latin typeface="Calibri"/>
              </a:defRPr>
            </a:pPr>
            <a:r>
              <a:t>STATUTORY AUTHORITY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Section 106 &amp; 94 BNSS (2023)</a:t>
            </a:r>
            <a:br/>
            <a:r>
              <a:t>DPDP Act 2023 | ISO 20022 camt.056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3931920"/>
            <a:ext cx="3328416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4096512"/>
            <a:ext cx="2962656" cy="12252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93C5FD"/>
                </a:solidFill>
                <a:latin typeface="Calibri"/>
              </a:defRPr>
            </a:pPr>
            <a:r>
              <a:t>MEASURED CAPABILITY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99.88% ATM Ranking ROC-AUC</a:t>
            </a:r>
            <a:br/>
            <a:r>
              <a:t>1.21 min Transit ETA Error | 46/46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  <a:latin typeface="Calibri"/>
              </a:defRPr>
            </a:pPr>
            <a:r>
              <a:t>Securing India's Digital Financial Frontier by Intercepting Stolen Funds at the Physical ATM Cash-Out Point.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Calibri"/>
              </a:defRPr>
            </a:pPr>
            <a:r>
              <a:t>SECTION 2  |  IDEA TITLE &amp; PROBLEM STATEMENT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The National Cybercrime Crisis: The Missing 20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RakshaNet — Predictive Cash-Out Interception Framework  |  SIH Problem Statement 26184  |  Ministry of Home Affairs (I4C)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E123C"/>
                </a:solidFill>
                <a:latin typeface="Calibri"/>
              </a:defRPr>
            </a:pPr>
            <a:r>
              <a:t>THE REALITY ON THE GROUND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• 8,000+ Cybercrime Complaints Filed Daily on NCRP / 1930.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</a:defRPr>
            </a:pPr>
            <a:r>
              <a:t>• Rs. 11,000+ Crores Siphoned Annually via Digital Arrest, Investment &amp; UPI Frauds.</a:t>
            </a:r>
          </a:p>
          <a:p>
            <a:pPr>
              <a:spcAft>
                <a:spcPts val="600"/>
              </a:spcAft>
              <a:defRPr sz="1050" b="1">
                <a:solidFill>
                  <a:srgbClr val="BE123C"/>
                </a:solidFill>
                <a:latin typeface="Calibri"/>
              </a:defRPr>
            </a:pPr>
            <a:r>
              <a:t>THE REACTION TRAP: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1. Automated Multi-Layering: Automated syndicate bots bounce stolen funds through 4 to 7 money-mule accounts across multiple banks in under 7 minutes.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2. The Physical Cash-Out: A ground runner on a motorbike enters a crowded commercial ATM hub and withdraws physical cash using cloned cards.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3. The Dead End: Once physical paper currency exits the dispenser, the digital trail goes completely cold. Police paperwork takes 24–48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75488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D4ED8"/>
                </a:solidFill>
                <a:latin typeface="Calibri"/>
              </a:defRPr>
            </a:pPr>
            <a:r>
              <a:t>WHY LEGACY SYSTEMS FAIL: THE CHRONOLOGICAL GAP</a:t>
            </a:r>
          </a:p>
          <a:p>
            <a:pPr>
              <a:spcAft>
                <a:spcPts val="450"/>
              </a:spcAft>
              <a:defRPr sz="950">
                <a:solidFill>
                  <a:srgbClr val="334155"/>
                </a:solidFill>
              </a:defRPr>
            </a:pPr>
            <a:r>
              <a:t>T = 0 min: Victim terrified via 'Digital Arrest' scam; transfers Rs. 4,30,000 via IMPS.</a:t>
            </a:r>
          </a:p>
          <a:p>
            <a:pPr>
              <a:spcAft>
                <a:spcPts val="450"/>
              </a:spcAft>
              <a:defRPr sz="950">
                <a:solidFill>
                  <a:srgbClr val="334155"/>
                </a:solidFill>
              </a:defRPr>
            </a:pPr>
            <a:r>
              <a:t>T + 2 min: Automated bot hops money: SBI Mule 1 -&gt; HDFC Mule 2 in 120 seconds.</a:t>
            </a:r>
          </a:p>
          <a:p>
            <a:pPr>
              <a:spcAft>
                <a:spcPts val="450"/>
              </a:spcAft>
              <a:defRPr sz="950">
                <a:solidFill>
                  <a:srgbClr val="334155"/>
                </a:solidFill>
              </a:defRPr>
            </a:pPr>
            <a:r>
              <a:t>T + 4 min: Bot splits funds: HDFC Mule 2 -&gt; Axis Mule 3 &amp; ICICI Mule 4.</a:t>
            </a:r>
          </a:p>
          <a:p>
            <a:pPr>
              <a:spcAft>
                <a:spcPts val="450"/>
              </a:spcAft>
              <a:defRPr sz="950" b="1">
                <a:solidFill>
                  <a:srgbClr val="BE123C"/>
                </a:solidFill>
              </a:defRPr>
            </a:pPr>
            <a:r>
              <a:t>T + 7 min: Ground runner swiping card at ATM: PHYSICAL CASH WITHDRAWN!</a:t>
            </a:r>
          </a:p>
          <a:p>
            <a:pPr>
              <a:spcAft>
                <a:spcPts val="450"/>
              </a:spcAft>
              <a:defRPr sz="950">
                <a:solidFill>
                  <a:srgbClr val="334155"/>
                </a:solidFill>
              </a:defRPr>
            </a:pPr>
            <a:r>
              <a:t>T + 3 hrs: Victim realizes scam, calls 1930; human operator types slow manual form.</a:t>
            </a:r>
          </a:p>
          <a:p>
            <a:pPr>
              <a:spcAft>
                <a:spcPts val="450"/>
              </a:spcAft>
              <a:defRPr sz="950">
                <a:solidFill>
                  <a:srgbClr val="334155"/>
                </a:solidFill>
              </a:defRPr>
            </a:pPr>
            <a:r>
              <a:t>T + 24 hrs: Investigating officer reads ticket, drafts manual email to Bank 1.</a:t>
            </a:r>
          </a:p>
          <a:p>
            <a:pPr>
              <a:spcAft>
                <a:spcPts val="450"/>
              </a:spcAft>
              <a:defRPr sz="950" b="1">
                <a:solidFill>
                  <a:srgbClr val="BE123C"/>
                </a:solidFill>
              </a:defRPr>
            </a:pPr>
            <a:r>
              <a:t>T + 48 hrs: Bank 1 replies: 'Account 1 balance is Rs. 0. Money was cashed out 2 days ago.'</a:t>
            </a:r>
          </a:p>
          <a:p>
            <a:pPr>
              <a:spcBef>
                <a:spcPts val="600"/>
              </a:spcBef>
              <a:defRPr b="1" sz="1050">
                <a:solidFill>
                  <a:srgbClr val="BE123C"/>
                </a:solidFill>
              </a:defRPr>
            </a:pPr>
            <a:r>
              <a:t>Outcome: 0% Recovery. Money gone forever. Police chase shadows.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Calibri"/>
              </a:defRPr>
            </a:pPr>
            <a:r>
              <a:t>SECTION 2  |  PROPOSED SOLUTION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RakshaNet: Predictive Interception Paradigm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RakshaNet — Predictive Cash-Out Interception Framework  |  SIH Problem Statement 26184  |  Ministry of Home Affairs (I4C)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289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1000">
                <a:solidFill>
                  <a:srgbClr val="1D4ED8"/>
                </a:solidFill>
              </a:defRPr>
            </a:pPr>
            <a:r>
              <a:t>THE CORE INNOVATION: TURNING COMPLAINTS INTO REAL-TIME PREDICTIVE INTERCEPTION SIGNALS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Instead of chasing stolen funds after they exit the ATM, RakshaNet forecasts the withdrawal hub 8-15 minutes in advance and issues automated statutory Section 106 BNSS freeze orders so the ATM declines the debit card on the spot.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3429000" cy="37490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063240" cy="33832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1D4ED8"/>
                </a:solidFill>
              </a:defRPr>
            </a:pPr>
            <a:r>
              <a:t>1. ZERO-DELAY VOICE INTAKE</a:t>
            </a:r>
          </a:p>
          <a:p>
            <a:pPr>
              <a:spcAft>
                <a:spcPts val="800"/>
              </a:spcAft>
              <a:defRPr sz="900" b="1">
                <a:solidFill>
                  <a:srgbClr val="64748B"/>
                </a:solidFill>
              </a:defRPr>
            </a:pPr>
            <a:r>
              <a:t>Browser Web Speech API + Indian NLP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Operates over speakerphone directly inside operator's browser session.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Indian Financial NER extracts 11-digit IFSC, 16-digit accounts, UPI handles, and spoken numbers ('sixty-five thousand').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97.5% entity recall in 30 seconds.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DPDP Act 2023 Compliant: Zero raw audio stored on server disks.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14600"/>
            <a:ext cx="3429000" cy="37490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063240" cy="33832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1D4ED8"/>
                </a:solidFill>
              </a:defRPr>
            </a:pPr>
            <a:r>
              <a:t>2. MULTI-BANK HOP RECONSTRUCTION</a:t>
            </a:r>
          </a:p>
          <a:p>
            <a:pPr>
              <a:spcAft>
                <a:spcPts val="800"/>
              </a:spcAft>
              <a:defRPr sz="900" b="1">
                <a:solidFill>
                  <a:srgbClr val="64748B"/>
                </a:solidFill>
              </a:defRPr>
            </a:pPr>
            <a:r>
              <a:t>Directed Graph Topology &amp; Velocity Engine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Breaks inter-bank silos connecting SBI, HDFC, ICICI CBS telemetry.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NetworkX directed graph traces 3-way fan-out splits in milliseconds.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Computes transfer velocity, chain depth, and smurfing ratios.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Prepares simultaneous multi-branch freeze payloads.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514600"/>
            <a:ext cx="3429000" cy="374903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697480"/>
            <a:ext cx="3063240" cy="338327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1D4ED8"/>
                </a:solidFill>
              </a:defRPr>
            </a:pPr>
            <a:r>
              <a:t>3. ATM PREDICTION &amp; 1-CLICK FREEZE</a:t>
            </a:r>
          </a:p>
          <a:p>
            <a:pPr>
              <a:spcAft>
                <a:spcPts val="800"/>
              </a:spcAft>
              <a:defRPr sz="900" b="1">
                <a:solidFill>
                  <a:srgbClr val="64748B"/>
                </a:solidFill>
              </a:defRPr>
            </a:pPr>
            <a:r>
              <a:t>Spatial ML + Section 106 BNSS Statutory Lock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BallTree spatial index queries 11,000+ Indian ATMs in &lt;1.5 ms.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Gradient Boosting evaluates bank affinity (On-Us) &amp; liquidity fit.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Predicts runner arrival ETA (1.21 min error).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Section 106 BNSS freeze order fires ISO 20022 camt.056 webhook: ATM Machine declines card with Error 57!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Calibri"/>
              </a:defRPr>
            </a:pPr>
            <a:r>
              <a:t>SECTION 2  |  INNOVATION &amp; UNIQUENESS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How RakshaNet Defeats Legacy Systems &amp; Key Differentiators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RakshaNet — Predictive Cash-Out Interception Framework  |  SIH Problem Statement 26184  |  Ministry of Home Affairs (I4C)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926080"/>
                <a:gridCol w="3047695"/>
              </a:tblGrid>
              <a:tr h="8961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Capability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What India Has Today (Legacy Systems)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RakshaNet Innovation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Real-World Operational Impact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Emergency Intake 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</a:defRPr>
                      </a:pPr>
                      <a:r>
                        <a:t>Citizen calls 1930; human operator manually types into slow web portal (15-20 min delay).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D4ED8"/>
                          </a:solidFill>
                        </a:defRPr>
                      </a:pPr>
                      <a:r>
                        <a:t>Live Call Console (/live-call) via browser Web Speech API &amp; Indian Financial NLP in 30 seconds.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59669"/>
                          </a:solidFill>
                        </a:defRPr>
                      </a:pPr>
                      <a:r>
                        <a:t>Eliminates 15-minute intake bottleneck; captures accounts before Hop 2 execution.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Money Trail Reconstruction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</a:defRPr>
                      </a:pPr>
                      <a:r>
                        <a:t>Static Excel sheets requested manually via sequential CFCFRMS tickets bank-by-bank (days).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D4ED8"/>
                          </a:solidFill>
                        </a:defRPr>
                      </a:pPr>
                      <a:r>
                        <a:t>Interactive D3.js Relational Graph tracing multi-bank hops and 3-way fan-out splits in real time.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59669"/>
                          </a:solidFill>
                        </a:defRPr>
                      </a:pPr>
                      <a:r>
                        <a:t>Visual topology exposes laundering syndicates; enables simultaneous multi-bank freeze.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Cash-Out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</a:defRPr>
                      </a:pPr>
                      <a:r>
                        <a:t>ZERO PREDICTION. Police only discover ATM withdrawal days later when account balance is Rs. 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D4ED8"/>
                          </a:solidFill>
                        </a:defRPr>
                      </a:pPr>
                      <a:r>
                        <a:t>Predictive Spatial ML Engine combining cell tower telemetry, travel physics (r = v * Delta_t), and ATM density.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59669"/>
                          </a:solidFill>
                        </a:defRPr>
                      </a:pPr>
                      <a:r>
                        <a:t>Pinpoints ATM cluster with 8-minute countdown timer (1.21 min tested arrival ETA error).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Legal Account Freezing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334155"/>
                          </a:solidFill>
                        </a:defRPr>
                      </a:pPr>
                      <a:r>
                        <a:t>Manual drafting of notices under CrPC 91 / BNSS 106, taking hours to days through police stations.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D4ED8"/>
                          </a:solidFill>
                        </a:defRPr>
                      </a:pPr>
                      <a:r>
                        <a:t>1-Click Statutory Section 106 BNSS freeze dispatching ISO 20022 camt.056 webhooks to bank nodal desks.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59669"/>
                          </a:solidFill>
                        </a:defRPr>
                      </a:pPr>
                      <a:r>
                        <a:t>ATM screen displays 'Card Restricted (Error 57)'; locks funds inside bank before runner swipes.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Calibri"/>
              </a:defRPr>
            </a:pPr>
            <a:r>
              <a:t>SECTION 3  |  TECHNICAL APPROACH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Complete Technology Stack &amp; Production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RakshaNet — Predictive Cash-Out Interception Framework  |  SIH Problem Statement 26184  |  Ministry of Home Affairs (I4C)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D4ED8"/>
                </a:solidFill>
              </a:defRPr>
            </a:pPr>
            <a:r>
              <a:t>FRONTEND &amp; PRESENTATION LAYER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Next.js 16 (App Router): Server-Side Rendering for instant command dashboard load.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TypeScript 5 (Strict): Eliminates runtime coordinate &amp; banking ledger type bugs.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Tailwind CSS: Micro-utility styling adhering to WCAG AA contrast &amp; 8dp grid.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D3.js (Force-Directed): Interactive relational graphs visualizing multi-hop mule trees.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Leaflet.js + OSM: Zero-cost full-bleed national risk heatmaps &amp; dynamic radius circles.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Web Speech API: Browser-native live voice transcription over speakerphone (zero cost).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5448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691640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D4ED8"/>
                </a:solidFill>
              </a:defRPr>
            </a:pPr>
            <a:r>
              <a:t>BACKEND &amp; STREAMING INFRASTRUCTURE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FastAPI (Python 3.13): Asynchronous ASGI framework; auto-generates Swagger OpenAPI.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Pydantic v2 (Rust Core): Strict validation for banking webhooks and criminal complaints.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WebSockets (RFC 6455): Real-time push engine for live captions and radius updates.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PostgreSQL + PostGIS: ACID persistence and spatial clustering (ST_SnapToGrid, ST_Distance).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Prometheus / Grafana: Enterprise system latency monitoring and metrics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799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D4ED8"/>
                </a:solidFill>
              </a:defRPr>
            </a:pPr>
            <a:r>
              <a:t>PREDICTIVE ML &amp; SPATIAL ENGINE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Scikit-Learn BallTree: Sub-millisecond candidate ATM search using Haversine great-circle metric.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Gradient Boosting Classifier: Ranks candidate ATMs (99.88% ROC-AUC) using 8 multi-modal features.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Gradient Boosting Regressor: Calculates runner arrival ETA (1.21 min MAE) via urban travel physics.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NetworkX Graph Engine: Topological fan-in/fan-out ratios, velocity, and cycle detection.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SHAP Explainability: Converts model weights into statutory plain-language legal justifications.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977639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4114799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D4ED8"/>
                </a:solidFill>
              </a:defRPr>
            </a:pPr>
            <a:r>
              <a:t>LLM SYNTHESIS &amp; CORE BANKING SIMULATION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Groq LPU (LLaMA 3.3 70B): 500 tokens/sec inference for temporal urgency &amp; court affidavits.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Deterministic Local Fallback: Zero-downtime heuristic engine when operating offline.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TCS BaNCS (SBI CBS Sim): Layer-1 entry mule core banking ledger and debit hold simulation.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Finacle (HDFC CBS Sim): Layer-2 rapid fan-out split simulation across banking accounts.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ICICI Terminal ATM Switch: Layer-3 cash-out terminal switch simulating Error 57 ATM declines.</a:t>
            </a:r>
          </a:p>
          <a:p>
            <a:pPr>
              <a:spcAft>
                <a:spcPts val="200"/>
              </a:spcAft>
              <a:defRPr sz="819">
                <a:solidFill>
                  <a:srgbClr val="334155"/>
                </a:solidFill>
              </a:defRPr>
            </a:pPr>
            <a:r>
              <a:t>• NPCI Inter-Bank Switch: Simultaneous multi-branch freeze broadcast gateway.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Calibri"/>
              </a:defRPr>
            </a:pPr>
            <a:r>
              <a:t>SECTION 3  |  TECHNICAL APPROACH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Methodology, Data Pipeline &amp; Working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RakshaNet — Predictive Cash-Out Interception Framework  |  SIH Problem Statement 26184  |  Ministry of Home Affairs (I4C)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08760"/>
            <a:ext cx="3962095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1645920"/>
            <a:ext cx="3596335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WORKING PROTOTYPE STATUS</a:t>
            </a:r>
          </a:p>
          <a:p>
            <a:pPr>
              <a:spcAft>
                <a:spcPts val="400"/>
              </a:spcAft>
              <a:defRPr sz="900">
                <a:solidFill>
                  <a:srgbClr val="059669"/>
                </a:solidFill>
              </a:defRPr>
            </a:pPr>
            <a:r>
              <a:t>• Test Suite Verification: 46 / 46 Passing (100%) in pytest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Frontend Build: 0 Errors / 10 Static Routes (Next.js 16.3)</a:t>
            </a:r>
          </a:p>
          <a:p>
            <a:pPr>
              <a:spcAft>
                <a:spcPts val="400"/>
              </a:spcAft>
              <a:defRPr sz="900">
                <a:solidFill>
                  <a:srgbClr val="059669"/>
                </a:solidFill>
              </a:defRPr>
            </a:pPr>
            <a:r>
              <a:t>• ATM Ranking Accuracy: 99.88% ROC-AUC / 99.88% Accuracy</a:t>
            </a:r>
          </a:p>
          <a:p>
            <a:pPr>
              <a:spcAft>
                <a:spcPts val="400"/>
              </a:spcAft>
              <a:defRPr sz="900">
                <a:solidFill>
                  <a:srgbClr val="059669"/>
                </a:solidFill>
              </a:defRPr>
            </a:pPr>
            <a:r>
              <a:t>• Transit Arrival ETA: 1.21 minutes Mean Absolute Error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Financial NER Recall: 97.5% Spoken Entity Recall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End-to-End Latency: &lt; 3.0 seconds (Spoken Word -&gt; Map Locus)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2029968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138928"/>
            <a:ext cx="1810512" cy="9235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850">
                <a:solidFill>
                  <a:srgbClr val="1D4ED8"/>
                </a:solidFill>
              </a:defRPr>
            </a:pPr>
            <a:r>
              <a:t>STAGE 1: INTAKE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Speakerphone audio / Web Speech API &amp; NER extracts accounts in 30s.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5029200"/>
            <a:ext cx="2029968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5138928"/>
            <a:ext cx="1810512" cy="9235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850">
                <a:solidFill>
                  <a:srgbClr val="1D4ED8"/>
                </a:solidFill>
              </a:defRPr>
            </a:pPr>
            <a:r>
              <a:t>STAGE 2: HOP TRACE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Inter-bank switch traces IMPS hops: SBI -&gt; HDFC -&gt; ICICI.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5029200"/>
            <a:ext cx="2029968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5138928"/>
            <a:ext cx="1810512" cy="9235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850">
                <a:solidFill>
                  <a:srgbClr val="1D4ED8"/>
                </a:solidFill>
              </a:defRPr>
            </a:pPr>
            <a:r>
              <a:t>STAGE 3: CELL PING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Passive bank credit SMS ping bypasses fake KYC to real locus.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5029200"/>
            <a:ext cx="2029968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5138928"/>
            <a:ext cx="1810512" cy="9235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850">
                <a:solidFill>
                  <a:srgbClr val="1D4ED8"/>
                </a:solidFill>
              </a:defRPr>
            </a:pPr>
            <a:r>
              <a:t>STAGE 4: PREDICTION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BallTree + GBDT models runner transit to ATM (1.21 min error).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5029200"/>
            <a:ext cx="2029968" cy="1143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6336" y="5138928"/>
            <a:ext cx="1810512" cy="9235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850">
                <a:solidFill>
                  <a:srgbClr val="1D4ED8"/>
                </a:solidFill>
              </a:defRPr>
            </a:pPr>
            <a:r>
              <a:t>STAGE 5: FREEZE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Section 106 BNSS ISO 20022 webhook rejects debit card at ATM.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Calibri"/>
              </a:defRPr>
            </a:pPr>
            <a:r>
              <a:t>SECTION 4  |  FEASIBILITY &amp; VIABILITY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Technical, Operational &amp; Financial Viability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RakshaNet — Predictive Cash-Out Interception Framework  |  SIH Problem Statement 26184  |  Ministry of Home Affairs (I4C)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6324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1D4ED8"/>
                </a:solidFill>
              </a:defRPr>
            </a:pPr>
            <a:r>
              <a:t>TECHNICAL FEASIBILITY</a:t>
            </a:r>
          </a:p>
          <a:p>
            <a:pPr>
              <a:spcAft>
                <a:spcPts val="1000"/>
              </a:spcAft>
              <a:defRPr sz="850" b="1">
                <a:solidFill>
                  <a:srgbClr val="64748B"/>
                </a:solidFill>
              </a:defRPr>
            </a:pPr>
            <a:r>
              <a:t>Zero Vendor Lock-In &amp; Proven Open Source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No Paid API Dependency: Unlike commercial startups reliant on Twilio ($0.024/min) or Mapbox APIs, RakshaNet runs 100% free and self-hostable.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In-Process ML Execution: FastAPI backend and Scikit-Learn/PyTorch ML engines share the same Python 3.13 runtime, eliminating network lag.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Sub-Millisecond Indexing: Scikit-Learn BallTree pre-indexes Earth's radians, ensuring real-time response even during nationwide complaint surges.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Standard Banking Formats: Webhooks structured in ISO 20022 camt.056 format, matching live NPCI/RBI settlement switch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6324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59669"/>
                </a:solidFill>
              </a:defRPr>
            </a:pPr>
            <a:r>
              <a:t>OPERATIONAL FEASIBILITY</a:t>
            </a:r>
          </a:p>
          <a:p>
            <a:pPr>
              <a:spcAft>
                <a:spcPts val="1000"/>
              </a:spcAft>
              <a:defRPr sz="850" b="1">
                <a:solidFill>
                  <a:srgbClr val="64748B"/>
                </a:solidFill>
              </a:defRPr>
            </a:pPr>
            <a:r>
              <a:t>Designed for Existing Police &amp; Bank Desks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Plugs into Existing 1930: Does not replace the national helpline; acts as a live sidecar screen for call handlers with zero retraining.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Human-In-The-Loop Governance: No automated rogue freezes. Cyber cell inspectors retain full statutory authority before any freeze fires.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Courtroom Evidentiary Defense: Inline SHAP bullets provide the statutory 'reason to suspect' mandated under Section 106 BNSS (2023).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Hand-Free Keyboard Triage: Hotkeys (J/K/Enter) allow investigators to triage 100+ alerts/hour without mouse fatigue.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06324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FINANCIAL VIABILITY</a:t>
            </a:r>
          </a:p>
          <a:p>
            <a:pPr>
              <a:spcAft>
                <a:spcPts val="1000"/>
              </a:spcAft>
              <a:defRPr sz="850" b="1">
                <a:solidFill>
                  <a:srgbClr val="64748B"/>
                </a:solidFill>
              </a:defRPr>
            </a:pPr>
            <a:r>
              <a:t>High ROI &amp; Scalable Cost Economics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Zero Citizen Licensing Tax: Runs natively in Chrome/Edge browsers; no per-user client software license fee.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Modest Compute Footprint: Trained ML models (cashout_predictor.joblib is only 362 KB) run inference on standard 4-core police servers.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Direct Public Wealth Saved: Moving recovery rate from &lt;5% to &gt;75% directly preserves thousands of crores in Indian citizen savings.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Clear Production Cloud Path: Deploys on MeitY-empanelled India-localized sovereign cloud via Docker &amp; Kubernetes.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Calibri"/>
              </a:defRPr>
            </a:pPr>
            <a:r>
              <a:t>SECTION 4  |  FEASIBILITY &amp; VIABILITY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Potential Challenges, Systemic Risks &amp; Mitigation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RakshaNet — Predictive Cash-Out Interception Framework  |  SIH Problem Statement 26184  |  Ministry of Home Affairs (I4C)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b="1" sz="950">
                <a:solidFill>
                  <a:srgbClr val="1D4ED8"/>
                </a:solidFill>
              </a:defRPr>
            </a:pPr>
            <a:r>
              <a:t>CHALLENGE 1: ACCESS TO LIVE CORE BANKING DATA</a:t>
            </a:r>
          </a:p>
          <a:p>
            <a:pPr>
              <a:spcAft>
                <a:spcPts val="400"/>
              </a:spcAft>
              <a:defRPr sz="819">
                <a:solidFill>
                  <a:srgbClr val="BE123C"/>
                </a:solidFill>
              </a:defRPr>
            </a:pPr>
            <a:r>
              <a:t>Risk: Hackathons and startups cannot legally touch live core banking servers without RBI/MHA MoUs.</a:t>
            </a:r>
          </a:p>
          <a:p>
            <a:pPr>
              <a:spcAft>
                <a:spcPts val="200"/>
              </a:spcAft>
              <a:defRPr b="1" sz="819">
                <a:solidFill>
                  <a:srgbClr val="059669"/>
                </a:solidFill>
              </a:defRPr>
            </a:pPr>
            <a:r>
              <a:t>RakshaNet Countermeasure &amp; Strategy: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We built high-fidelity CBS simulators (SBI BaNCS, HDFC Finacle, ICICI) and output ISO 20022 camt.056 webhooks. Integration with live CBS requires RBI Regulatory Sandbox clearance — a documented legal MoU path, not an architectural blocker.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5448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691640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b="1" sz="950">
                <a:solidFill>
                  <a:srgbClr val="1D4ED8"/>
                </a:solidFill>
              </a:defRPr>
            </a:pPr>
            <a:r>
              <a:t>CHALLENGE 2: RISK OF FALSE POSITIVES &amp; WRONGFUL FREEZES</a:t>
            </a:r>
          </a:p>
          <a:p>
            <a:pPr>
              <a:spcAft>
                <a:spcPts val="400"/>
              </a:spcAft>
              <a:defRPr sz="819">
                <a:solidFill>
                  <a:srgbClr val="BE123C"/>
                </a:solidFill>
              </a:defRPr>
            </a:pPr>
            <a:r>
              <a:t>Risk: An innocent merchant or shopkeeper getting their account frozen during legitimate business sales.</a:t>
            </a:r>
          </a:p>
          <a:p>
            <a:pPr>
              <a:spcAft>
                <a:spcPts val="200"/>
              </a:spcAft>
              <a:defRPr b="1" sz="819">
                <a:solidFill>
                  <a:srgbClr val="059669"/>
                </a:solidFill>
              </a:defRPr>
            </a:pPr>
            <a:r>
              <a:t>RakshaNet Countermeasure &amp; Strategy: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Dual-Factor Algorithmic Barrier: Mules exhibit extreme velocity (&lt;3 mins) and &gt;85% immediate forward pass-through. Legitimate merchants retain funds for inventory. Mandatory SHAP explainability and 1-click dispute receipts protect innocent citizens.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799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b="1" sz="950">
                <a:solidFill>
                  <a:srgbClr val="1D4ED8"/>
                </a:solidFill>
              </a:defRPr>
            </a:pPr>
            <a:r>
              <a:t>CHALLENGE 3: CRIMINAL TACTICS (SMURFING &amp; BURNER SIMS)</a:t>
            </a:r>
          </a:p>
          <a:p>
            <a:pPr>
              <a:spcAft>
                <a:spcPts val="400"/>
              </a:spcAft>
              <a:defRPr sz="819">
                <a:solidFill>
                  <a:srgbClr val="BE123C"/>
                </a:solidFill>
              </a:defRPr>
            </a:pPr>
            <a:r>
              <a:t>Risk: Gangs split Rs. 10L into 100 transfers of Rs. 9,999 or swap burner SIM cards at every withdrawal.</a:t>
            </a:r>
          </a:p>
          <a:p>
            <a:pPr>
              <a:spcAft>
                <a:spcPts val="200"/>
              </a:spcAft>
              <a:defRPr b="1" sz="819">
                <a:solidFill>
                  <a:srgbClr val="059669"/>
                </a:solidFill>
              </a:defRPr>
            </a:pPr>
            <a:r>
              <a:t>RakshaNet Countermeasure &amp; Strategy: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GNN Topology Analysis flags aggregate multi-hop volume regardless of ticket size. SIM card swapping is defeated by CEIR hardware IMEI radio tracking, which remains constant across different SIM cards.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977639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4114799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b="1" sz="950">
                <a:solidFill>
                  <a:srgbClr val="1D4ED8"/>
                </a:solidFill>
              </a:defRPr>
            </a:pPr>
            <a:r>
              <a:t>CHALLENGE 4: NON-ATM EXITS (CRYPTO P2P &amp; GATEWAYS)</a:t>
            </a:r>
          </a:p>
          <a:p>
            <a:pPr>
              <a:spcAft>
                <a:spcPts val="400"/>
              </a:spcAft>
              <a:defRPr sz="819">
                <a:solidFill>
                  <a:srgbClr val="BE123C"/>
                </a:solidFill>
              </a:defRPr>
            </a:pPr>
            <a:r>
              <a:t>Risk: Criminals don't withdraw paper cash at ATMs; they convert stolen funds to USDT on Binance.</a:t>
            </a:r>
          </a:p>
          <a:p>
            <a:pPr>
              <a:spcAft>
                <a:spcPts val="200"/>
              </a:spcAft>
              <a:defRPr b="1" sz="819">
                <a:solidFill>
                  <a:srgbClr val="059669"/>
                </a:solidFill>
              </a:defRPr>
            </a:pPr>
            <a:r>
              <a:t>RakshaNet Countermeasure &amp; Strategy: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Case 5 Tactical Protocol: Virtual Merchant Escrow handles are flagged automatically. An automated FIU-IND settlement hold locks the payout pool during the standard T+1 settlement escrow window before crypto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Calibri"/>
              </a:defRPr>
            </a:pPr>
            <a:r>
              <a:t>SECTION 5  |  IMPACT &amp; BENEFITS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Social, Economic &amp; National Security Value Delivered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RakshaNet — Predictive Cash-Out Interception Framework  |  SIH Problem Statement 26184  |  Ministry of Home Affairs (I4C)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4572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6324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59669"/>
                </a:solidFill>
              </a:defRPr>
            </a:pPr>
            <a:r>
              <a:t>ECONOMIC IMPACT</a:t>
            </a:r>
          </a:p>
          <a:p>
            <a:pPr>
              <a:spcAft>
                <a:spcPts val="1000"/>
              </a:spcAft>
              <a:defRPr sz="850" b="1">
                <a:solidFill>
                  <a:srgbClr val="64748B"/>
                </a:solidFill>
              </a:defRPr>
            </a:pPr>
            <a:r>
              <a:t>Preserving National Financial Capital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Transforming Recovery Rates: Current national cyber recovery is under 5%. RakshaNet's predictive freeze raises recovery rates to 75%–90%.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Thousands of Crores Saved: Stopping cash-out at Hop 1 or the ATM keeps citizen savings inside regulated banking vaults rather than in underworld hands.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Lower Cyber Insurance Costs: Predictable, automated interception lowers systemic fraud risk and insurance loss reserves for public and private banks.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Dismantling Syndicates: Apprehending ground runners with debit cards collapses the syndicate's physical cash extraction logistics.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6324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1D4ED8"/>
                </a:solidFill>
              </a:defRPr>
            </a:pPr>
            <a:r>
              <a:t>SOCIAL IMPACT</a:t>
            </a:r>
          </a:p>
          <a:p>
            <a:pPr>
              <a:spcAft>
                <a:spcPts val="1000"/>
              </a:spcAft>
              <a:defRPr sz="850" b="1">
                <a:solidFill>
                  <a:srgbClr val="64748B"/>
                </a:solidFill>
              </a:defRPr>
            </a:pPr>
            <a:r>
              <a:t>Restoring Public Trust in Digital India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Protecting Vulnerable Citizens: Retirees, senior citizens, and students targeted by digital arrest frauds get instant emergency fund recovery.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Eliminating Victim Helplessness: Citizens currently wait days with zero visibility; RakshaNet generates a live case code in 30 seconds with immediate bank holds.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Strengthening Digital Payments: Public confidence in UPI, IMPS, and mobile banking is reinforced when citizens see that fraud proceeds are recovered.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Privacy by Design: DPDP Act 2023 compliance guarantees that citizen call audio is processed ephemerally with zero surveillance overreach.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290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06324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LAW ENFORCEMENT VALUE</a:t>
            </a:r>
          </a:p>
          <a:p>
            <a:pPr>
              <a:spcAft>
                <a:spcPts val="1000"/>
              </a:spcAft>
              <a:defRPr sz="850" b="1">
                <a:solidFill>
                  <a:srgbClr val="64748B"/>
                </a:solidFill>
              </a:defRPr>
            </a:pPr>
            <a:r>
              <a:t>Empowering Police with Actionable Intelligence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Proactive Patrol Car Dispatch: GIS heatmap directs beat marshals to ATM hotspots before the withdrawal occurs, turning police from desk clerks to interceptors.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Section 106 BNSS Compliance: Automates court-ready freeze affidavits and evidence trails, eliminating hours of manual legal drafting.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Inter-State Coordination: I4C national command center tracks cross-state mule chains spanning Maharashtra, Delhi, Rajasthan, and West Bengal.</a:t>
            </a:r>
          </a:p>
          <a:p>
            <a:pPr>
              <a:spcAft>
                <a:spcPts val="600"/>
              </a:spcAft>
              <a:defRPr sz="880">
                <a:solidFill>
                  <a:srgbClr val="334155"/>
                </a:solidFill>
              </a:defRPr>
            </a:pPr>
            <a:r>
              <a:t>• Immutable Audit Trail: Tamper-evident logs preserve every officer action for judicial scrutiny under Section 94 BNSS.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Calibri"/>
              </a:defRPr>
            </a:pPr>
            <a:r>
              <a:t>SECTION 6  |  RESEARCH &amp; REFERENCES</a:t>
            </a:r>
          </a:p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Authentic Datasets, Academic References &amp; Legal Citations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RakshaNet — Predictive Cash-Out Interception Framework  |  SIH Problem Statement 26184  |  Ministry of Home Affairs (I4C)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1D4ED8"/>
                </a:solidFill>
              </a:defRPr>
            </a:pPr>
            <a:r>
              <a:t>AUTHENTIC DATASETS &amp; OFFICIAL LINKS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MIT-IBM Elliptic Bitcoin Dataset</a:t>
            </a:r>
          </a:p>
          <a:p>
            <a:pPr>
              <a:defRPr sz="780">
                <a:solidFill>
                  <a:srgbClr val="1D4ED8"/>
                </a:solidFill>
              </a:defRPr>
            </a:pPr>
            <a:r>
              <a:t>  Link: kaggle.com/datasets/ellipticco/elliptic-data-set</a:t>
            </a:r>
          </a:p>
          <a:p>
            <a:pPr>
              <a:spcAft>
                <a:spcPts val="300"/>
              </a:spcAft>
              <a:defRPr sz="780">
                <a:solidFill>
                  <a:srgbClr val="64748B"/>
                </a:solidFill>
              </a:defRPr>
            </a:pPr>
            <a:r>
              <a:t>  203,769 blockchain nodes / 234,355 edges used to benchmark GNN money-laundering detection.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DataMeet Indian Pincodes Database</a:t>
            </a:r>
          </a:p>
          <a:p>
            <a:pPr>
              <a:defRPr sz="780">
                <a:solidFill>
                  <a:srgbClr val="1D4ED8"/>
                </a:solidFill>
              </a:defRPr>
            </a:pPr>
            <a:r>
              <a:t>  Link: github.com/sanand0/pincode (IN.csv)</a:t>
            </a:r>
          </a:p>
          <a:p>
            <a:pPr>
              <a:spcAft>
                <a:spcPts val="300"/>
              </a:spcAft>
              <a:defRPr sz="780">
                <a:solidFill>
                  <a:srgbClr val="64748B"/>
                </a:solidFill>
              </a:defRPr>
            </a:pPr>
            <a:r>
              <a:t>  11,042 geocoded Indian postal jurisdictions providing ground-truth coordinates (CC BY 4.0).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Razorpay Live Financial IFSC Database</a:t>
            </a:r>
          </a:p>
          <a:p>
            <a:pPr>
              <a:defRPr sz="780">
                <a:solidFill>
                  <a:srgbClr val="1D4ED8"/>
                </a:solidFill>
              </a:defRPr>
            </a:pPr>
            <a:r>
              <a:t>  Link: ifsc.razorpay.com / github.com/razorpay/ifsc</a:t>
            </a:r>
          </a:p>
          <a:p>
            <a:pPr>
              <a:spcAft>
                <a:spcPts val="300"/>
              </a:spcAft>
              <a:defRPr sz="780">
                <a:solidFill>
                  <a:srgbClr val="64748B"/>
                </a:solidFill>
              </a:defRPr>
            </a:pPr>
            <a:r>
              <a:t>  Official RBI clearing directory mapping 11-digit IFSC codes to branches and police stations.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Verified Indian ATM Infrastructure</a:t>
            </a:r>
          </a:p>
          <a:p>
            <a:pPr>
              <a:defRPr sz="780">
                <a:solidFill>
                  <a:srgbClr val="1D4ED8"/>
                </a:solidFill>
              </a:defRPr>
            </a:pPr>
            <a:r>
              <a:t>  Link: OpenStreetMap Overpass API (amenity=atm)</a:t>
            </a:r>
          </a:p>
          <a:p>
            <a:pPr>
              <a:spcAft>
                <a:spcPts val="300"/>
              </a:spcAft>
              <a:defRPr sz="780">
                <a:solidFill>
                  <a:srgbClr val="64748B"/>
                </a:solidFill>
              </a:defRPr>
            </a:pPr>
            <a:r>
              <a:t>  NCR &amp; Diebold terminal coordinates, bank network affiliations across Pune, Mumbai, Delhi, Bengaluru.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Mule Movement Trajectory Corpus</a:t>
            </a:r>
          </a:p>
          <a:p>
            <a:pPr>
              <a:defRPr sz="780">
                <a:solidFill>
                  <a:srgbClr val="1D4ED8"/>
                </a:solidFill>
              </a:defRPr>
            </a:pPr>
            <a:r>
              <a:t>  Link: data/datasets/mule_cashout_trajectories.csv</a:t>
            </a:r>
          </a:p>
          <a:p>
            <a:pPr>
              <a:spcAft>
                <a:spcPts val="300"/>
              </a:spcAft>
              <a:defRPr sz="780">
                <a:solidFill>
                  <a:srgbClr val="64748B"/>
                </a:solidFill>
              </a:defRPr>
            </a:pPr>
            <a:r>
              <a:t>  2,000 incident trajectories modeled on NCRP &amp; RBI fraud typologies.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54480"/>
            <a:ext cx="52120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691640"/>
            <a:ext cx="484632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59669"/>
                </a:solidFill>
              </a:defRPr>
            </a:pPr>
            <a:r>
              <a:t>ACADEMIC PAPERS &amp; STATUTORY LAWS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Weber et al. (MIT-IBM Lab, 2019)</a:t>
            </a:r>
          </a:p>
          <a:p>
            <a:pPr>
              <a:defRPr sz="780" b="1">
                <a:solidFill>
                  <a:srgbClr val="334155"/>
                </a:solidFill>
              </a:defRPr>
            </a:pPr>
            <a:r>
              <a:t>  Anti-Money Laundering in Bitcoin: GCNs for Forensics (arXiv:1908.02591)</a:t>
            </a:r>
          </a:p>
          <a:p>
            <a:pPr>
              <a:spcAft>
                <a:spcPts val="300"/>
              </a:spcAft>
              <a:defRPr sz="780">
                <a:solidFill>
                  <a:srgbClr val="64748B"/>
                </a:solidFill>
              </a:defRPr>
            </a:pPr>
            <a:r>
              <a:t>  Foundational math for graph convolutional networks applied to layered fund laundering.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Lopez-Rojas et al. (PaySim, 2016)</a:t>
            </a:r>
          </a:p>
          <a:p>
            <a:pPr>
              <a:defRPr sz="780" b="1">
                <a:solidFill>
                  <a:srgbClr val="334155"/>
                </a:solidFill>
              </a:defRPr>
            </a:pPr>
            <a:r>
              <a:t>  PaySim: A Financial Mobile Money Simulator for Fraud Detection</a:t>
            </a:r>
          </a:p>
          <a:p>
            <a:pPr>
              <a:spcAft>
                <a:spcPts val="300"/>
              </a:spcAft>
              <a:defRPr sz="780">
                <a:solidFill>
                  <a:srgbClr val="64748B"/>
                </a:solidFill>
              </a:defRPr>
            </a:pPr>
            <a:r>
              <a:t>  Simulating high-velocity multi-hop mobile fund transfers mirroring UPI/IMPS hops.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Section 106, Bharatiya Nagarik Suraksha Sanhita (BNSS), 2023</a:t>
            </a:r>
          </a:p>
          <a:p>
            <a:pPr>
              <a:defRPr sz="780" b="1">
                <a:solidFill>
                  <a:srgbClr val="334155"/>
                </a:solidFill>
              </a:defRPr>
            </a:pPr>
            <a:r>
              <a:t>  Statutory Police Authority to Seize/Freeze Property</a:t>
            </a:r>
          </a:p>
          <a:p>
            <a:pPr>
              <a:spcAft>
                <a:spcPts val="300"/>
              </a:spcAft>
              <a:defRPr sz="780">
                <a:solidFill>
                  <a:srgbClr val="64748B"/>
                </a:solidFill>
              </a:defRPr>
            </a:pPr>
            <a:r>
              <a:t>  Legal foundation enabling automated police orders to freeze bank accounts suspected of crime.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Section 94, Bharatiya Nagarik Suraksha Sanhita (BNSS), 2023</a:t>
            </a:r>
          </a:p>
          <a:p>
            <a:pPr>
              <a:defRPr sz="780" b="1">
                <a:solidFill>
                  <a:srgbClr val="334155"/>
                </a:solidFill>
              </a:defRPr>
            </a:pPr>
            <a:r>
              <a:t>  Electronic Summons for Documents &amp; CCTV Records</a:t>
            </a:r>
          </a:p>
          <a:p>
            <a:pPr>
              <a:spcAft>
                <a:spcPts val="300"/>
              </a:spcAft>
              <a:defRPr sz="780">
                <a:solidFill>
                  <a:srgbClr val="64748B"/>
                </a:solidFill>
              </a:defRPr>
            </a:pPr>
            <a:r>
              <a:t>  Summoning ATM CCTV pinhole camera footage and telecom cell tower dumps.</a:t>
            </a:r>
          </a:p>
          <a:p>
            <a:pPr>
              <a:defRPr b="1" sz="880">
                <a:solidFill>
                  <a:srgbClr val="0F172A"/>
                </a:solidFill>
              </a:defRPr>
            </a:pPr>
            <a:r>
              <a:t>• Digital Personal Data Protection (DPDP) Act, 2023</a:t>
            </a:r>
          </a:p>
          <a:p>
            <a:pPr>
              <a:defRPr sz="780" b="1">
                <a:solidFill>
                  <a:srgbClr val="334155"/>
                </a:solidFill>
              </a:defRPr>
            </a:pPr>
            <a:r>
              <a:t>  Data Minimization &amp; Ephemeral Audio Processing</a:t>
            </a:r>
          </a:p>
          <a:p>
            <a:pPr>
              <a:spcAft>
                <a:spcPts val="300"/>
              </a:spcAft>
              <a:defRPr sz="780">
                <a:solidFill>
                  <a:srgbClr val="64748B"/>
                </a:solidFill>
              </a:defRPr>
            </a:pPr>
            <a:r>
              <a:t>  Ensuring zero citizen voice recording storage on server disks during helpline transcription.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93C5FD"/>
                </a:solidFill>
                <a:latin typeface="Calibri"/>
              </a:defRPr>
            </a:pPr>
            <a:r>
              <a:t>SMART INDIA HACKATHON 2024  |  MINISTRY OF HOME AFFAIRS (I4C)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RakshaNet: Stopping Cybercrime at the Point of Cash-Out</a:t>
            </a:r>
          </a:p>
          <a:p>
            <a:pPr>
              <a:spcAft>
                <a:spcPts val="24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RakshaNet proves that predicting and pre-empting cybercrime cash-outs is technically viable, legally sound, and deployable today. By connecting emergency 1930 voice calls directly to physical ATM interdiction, RakshaNet protects citizens' hard-earned savings before the money is gone forever.</a:t>
            </a:r>
          </a:p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✓ 99.88% ATM Ranking Accuracy    ✓ 1.21 min ETA Margin    ✓ Section 106 BNSS Ready    ✓ 100% 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  <a:latin typeface="Calibri"/>
              </a:defRPr>
            </a:pPr>
            <a:r>
              <a:t>Thank You. We Welcome Your Questions &amp; Technical Scrutiny.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